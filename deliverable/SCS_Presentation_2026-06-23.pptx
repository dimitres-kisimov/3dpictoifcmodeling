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A1A1A"/>
                </a:solidFill>
                <a:latin typeface="Segoe UI"/>
              </a:rPr>
              <a:t>Vom Foto zum BIM-Modell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2F81F7"/>
                </a:solidFill>
                <a:latin typeface="Segoe UI"/>
              </a:rPr>
              <a:t>From Photo to BIM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86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606060"/>
                </a:solidFill>
                <a:latin typeface="Segoe UI"/>
              </a:rPr>
              <a:t>KI-gestützte Raummöblierung &amp; Foto→3D-Pipeline für IFC/BIM</a:t>
            </a:r>
          </a:p>
          <a:p>
            <a:pPr algn="ctr">
              <a:spcAft>
                <a:spcPts val="1400"/>
              </a:spcAft>
            </a:pPr>
            <a:r>
              <a:rPr sz="1500" b="0">
                <a:solidFill>
                  <a:srgbClr val="606060"/>
                </a:solidFill>
                <a:latin typeface="Segoe UI"/>
              </a:rPr>
              <a:t>AI room population &amp; photo→3D pipeline for IFC/BIM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Segoe UI"/>
              </a:rPr>
              <a:t>Gülriz  ·  Dimitrius      |      23.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Teil 1 — Analyse &amp; Ansatz</a:t>
            </a:r>
          </a:p>
          <a:p>
            <a:pPr algn="ctr">
              <a:spcAft>
                <a:spcPts val="1200"/>
              </a:spcAft>
            </a:pPr>
            <a:r>
              <a:rPr sz="2000" b="0">
                <a:solidFill>
                  <a:srgbClr val="8FB8F7"/>
                </a:solidFill>
                <a:latin typeface="Segoe UI"/>
              </a:rPr>
              <a:t>Part 1 — Analysis &amp; Approach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C8D0DA"/>
                </a:solidFill>
                <a:latin typeface="Segoe UI"/>
              </a:rPr>
              <a:t>Gülriz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Einführung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Foto → Objekttabelle → KI-Raumlayout → IFC/BIM + 3D-Betrachter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Jedes fotografierte Objekt wird eine Zeile: Typ, Maße, Material, 3D-Modell, Lizenz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Die Objekttabelle ist die zentrale Wahrheitsquelle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Export als CSV / IFC; eine KI möbliert den Raum funktional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Photo → object table → AI room layout → IFC/BIM + 3D viewer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Each photographed object becomes a row: type, size, material, 3D model, licence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The object table is the single source of truth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Export as CSV / IFC; an AI furnishes the room functionally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Gülriz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Ziel &amp; Umfang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Objective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Ziel: Bild→IFC-Pipeline für Büromöbel (kein ganzes Gebäude-BIM)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Umfang: Einzelraum, 10–15 Möbelstücke, funktionales Layout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Nur kommerziell sichere Werkzeuge – keine AGPL, keine Umsatzgrenzen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Saubere, wiederholbare Meshes über einen kuratierten Katalog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Objective: image→IFC pipeline for office furniture (not full-building BIM)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Scope: single room, 10–15 items, functional layout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Only commercially-safe tools — no AGPL, no revenue caps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Clean, repeatable meshes via a curated catalog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Gülriz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Das Problem — Einzelbild-Grenzen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The Problem — Single-view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Einzelbild-Rekonstruktion ist mathematisch unterbestimmt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1) Asymmetrische Beine – kein Symmetrie-Prior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2) Halluzinierte Rück-/Unterseite – kein Bildinhalt dort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3) Nicht-deterministisch – gleiches Foto, andere Meshes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4) Verrauschte Topologie – Löcher, nicht-mannigfaltig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Mesh ≠ semantisches IFC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Single-view reconstruction is mathematically ill-posed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1) Asymmetric legs — no symmetry prior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2) Hallucinated back/underside — no image info there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3) Non-deterministic — same photo, different meshes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4) Noisy topology — holes, non-manifold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Mesh ≠ semantic IFC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Gülriz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Energie- &amp; Kostenrechnung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Energy &amp; Cost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Strom (Baden-Württemberg 2026): €0,25/kWh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GPU ~0,45–0,6 kW × 24/7 ≈ 324–432 kWh/Monat → €80–108 Strom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Hetzner GEX44: €184/Monat · On-Prem Heilbronn: ~€175/Monat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Pro Raum: ~€0,019 bei 10.000 Räumen/Monat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Lizenzgebühren: €0 – für immer (MIT/Apache/CC-BY)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Electricity (Baden-Württemberg 2026): €0.25/kWh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GPU ~0.45–0.6 kW × 24/7 ≈ 324–432 kWh/month → €80–108 power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Hetzner GEX44: €184/month · on-prem Heilbronn: ~€175/month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Per room: ~€0.019 at 10,000 rooms/month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Licence royalties: €0 — forever (MIT/Apache/CC-BY)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Gülriz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KI-Ansätze auf einen Blick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AI Approaches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Retrieval-first: nur bei Katalog-Miss generieren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Retrieval: DINOv2 / SigLIP 2 (Apache-2.0)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Erkennung + Segmentierung: Grounding DINO + SAM 2.1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Tiefe / Maßstab: Depth Anything V2 Small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Generative Reserve: SAM 3D / Stable Fast 3D / TRELLIS / TripoSR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Retrieval-first: generate only on a catalog miss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Retrieval: DINOv2 / SigLIP 2 (Apache-2.0)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Detection + segmentation: Grounding DINO + SAM 2.1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Depth / scale: Depth Anything V2 Small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Generative fallback: SAM 3D / Stable Fast 3D / TRELLIS / TripoSR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Gülriz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HuggingFace &amp; Lizenzen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HuggingFace &amp; Licences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Sichere HF-Modelle: Apache-2.0 / MIT / SAM-Lizenz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Fallen vermeiden: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Hunyuan3D-2 – in der EU ausgeschlossen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YOLOv8 – AGPL (Copyleft)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Depth Anything Base/Large – CC-BY-NC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Stable Fast 3D – Grenze bei $1 Mio. Umsatz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Prinzip: SCS verkauft Ergebnisse, nicht Gewichte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Safe HF models: Apache-2.0 / MIT / SAM license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Traps to avoid: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Hunyuan3D-2 — excluded in the EU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YOLOv8 — AGPL (copyleft)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Depth Anything Base/Large — CC-BY-NC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Stable Fast 3D — $1M revenue cap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Principle: SCS sells outputs, not weights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Gülriz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Der Strategiewechsel — Retrieval + Layout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The Pivot — Retrieval +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Statt halluzinieren: Foto → nächstes sauberes Katalog-Mesh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DINOv2 + FAISS über 400 echte ABO-Produktmodelle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Deterministisch, professionell, wiederholbar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Generierung nur als Reserve für Nicht-Katalog-Objekte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Instead of hallucinating: photo → nearest clean catalog mesh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DINOv2 + FAISS over 400 real ABO product models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Deterministic, professional, repeatable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Generation only as a fallback for non-catalog objects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Gülriz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Teil 2 — System &amp; Ergebnisse</a:t>
            </a:r>
          </a:p>
          <a:p>
            <a:pPr algn="ctr">
              <a:spcAft>
                <a:spcPts val="1200"/>
              </a:spcAft>
            </a:pPr>
            <a:r>
              <a:rPr sz="2000" b="0">
                <a:solidFill>
                  <a:srgbClr val="8FB8F7"/>
                </a:solidFill>
                <a:latin typeface="Segoe UI"/>
              </a:rPr>
              <a:t>Part 2 — System &amp; Results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C8D0DA"/>
                </a:solidFill>
                <a:latin typeface="Segoe UI"/>
              </a:rPr>
              <a:t>Dimitrius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Systemüberblick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System Overview</a:t>
            </a:r>
          </a:p>
        </p:txBody>
      </p:sp>
      <p:pic>
        <p:nvPicPr>
          <p:cNvPr id="4" name="Picture 3" descr="results_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70" y="1554479"/>
            <a:ext cx="3378753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606060"/>
                </a:solidFill>
                <a:latin typeface="Segoe UI"/>
              </a:rPr>
              <a:t>Gesamtüberblick: Layouts, Kapazitätsgrenze und Foto→3D-Genauigkeit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2F81F7"/>
                </a:solidFill>
                <a:latin typeface="Segoe UI"/>
              </a:rPr>
              <a:t>Overview: layouts, capacity boundary and photo→3D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Der 400-Objekt-Katalog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The 400-item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Amazon Berkeley Objects (ABO): 400 echte Produktmodelle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8 Kategorien × 50, Lizenz CC-BY-4.0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Echte metrische Maße (H×B×T in Metern)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Retrieval: DINOv2 + FAISS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Einzelauswahl mit farbigen Vorschaubildern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Amazon Berkeley Objects (ABO): 400 real product models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8 categories × 50, licence CC-BY-4.0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Real metric dimensions (H×W×D in metres)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Retrieval: DINOv2 + FAISS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Per-item picker with colored previews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Layout-Engine — 3 Schichten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Layout Engine — 3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Schicht 1 – Regelpakete (Neufert 6 m²/Arbeitsplatz, ADA 0,915 m, Tür 0,90 m)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Schicht 2 – CP-SAT-Packung, 10-cm-Raster, Wand-Affinität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Schicht 3 – funktionale Verankerung + Sitzausrichtung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Stuhl→Schreibtisch, Monitor/Lampe→Tisch; Stuhl blickt zum Tisch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Auf den Zentimeter verifiziert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Layer 1 — rule packs (Neufert 6 m²/workstation, ADA 0.915 m, door 0.90 m)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Layer 2 — CP-SAT packing, 10 cm grid, wall-affinity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Layer 3 — functional anchoring + seat-facing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Chair→desk, monitor/lamp→desk; chair faces the desk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Verified to the centimetre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Layout in Aktion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Layout in Action</a:t>
            </a:r>
          </a:p>
        </p:txBody>
      </p:sp>
      <p:pic>
        <p:nvPicPr>
          <p:cNvPr id="4" name="Picture 3" descr="fig02_office_team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98631"/>
            <a:ext cx="10180015" cy="3735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606060"/>
                </a:solidFill>
                <a:latin typeface="Segoe UI"/>
              </a:rPr>
              <a:t>Drei-Arbeitsplatz-Büro: Stühle zum Schreibtisch, Lager an den Wänden, Mitte frei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2F81F7"/>
                </a:solidFill>
                <a:latin typeface="Segoe UI"/>
              </a:rPr>
              <a:t>Three-workstation office: chairs face desks, storage on walls, centre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Randbedingungen &amp; Barrierefreiheit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Constraints &amp; Accessibility</a:t>
            </a:r>
          </a:p>
        </p:txBody>
      </p:sp>
      <p:pic>
        <p:nvPicPr>
          <p:cNvPr id="4" name="Picture 3" descr="fig03_office_obstacles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54457"/>
            <a:ext cx="5608179" cy="2057645"/>
          </a:xfrm>
          <a:prstGeom prst="rect">
            <a:avLst/>
          </a:prstGeom>
        </p:spPr>
      </p:pic>
      <p:pic>
        <p:nvPicPr>
          <p:cNvPr id="5" name="Picture 4" descr="fig04_office_ada_mo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2354457"/>
            <a:ext cx="5608179" cy="20576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606060"/>
                </a:solidFill>
                <a:latin typeface="Segoe UI"/>
              </a:rPr>
              <a:t>Säule + Türfreiraum (links) · ADA breitere Gänge (rechts)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2F81F7"/>
                </a:solidFill>
                <a:latin typeface="Segoe UI"/>
              </a:rPr>
              <a:t>Column + door keep-clear (left) · ADA wider aisles (right)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Verallgemeinerung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Generalization</a:t>
            </a:r>
          </a:p>
        </p:txBody>
      </p:sp>
      <p:pic>
        <p:nvPicPr>
          <p:cNvPr id="4" name="Picture 3" descr="fig05_living_room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242715"/>
            <a:ext cx="5608179" cy="2281128"/>
          </a:xfrm>
          <a:prstGeom prst="rect">
            <a:avLst/>
          </a:prstGeom>
        </p:spPr>
      </p:pic>
      <p:pic>
        <p:nvPicPr>
          <p:cNvPr id="5" name="Picture 4" descr="fig06_workspace_dense_mo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2340619"/>
            <a:ext cx="5608179" cy="2085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606060"/>
                </a:solidFill>
                <a:latin typeface="Segoe UI"/>
              </a:rPr>
              <a:t>Wohnzimmer (links) · dichter Arbeitsraum (rechts) – Regelpakete pro Raumtyp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2F81F7"/>
                </a:solidFill>
                <a:latin typeface="Segoe UI"/>
              </a:rPr>
              <a:t>Living room (left) · dense workspace (right) — per-room-type rule packs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Kapazitätsgrenze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Capacity Boundary</a:t>
            </a:r>
          </a:p>
        </p:txBody>
      </p:sp>
      <p:pic>
        <p:nvPicPr>
          <p:cNvPr id="4" name="Picture 3" descr="fig08_capacit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206" y="1554479"/>
            <a:ext cx="7257282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606060"/>
                </a:solidFill>
                <a:latin typeface="Segoe UI"/>
              </a:rPr>
              <a:t>Raumgröße × Arbeitsplätze – 4×3→2, 5×4→3, 6×5→4, 8×6→6; skaliert mit der Fläche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2F81F7"/>
                </a:solidFill>
                <a:latin typeface="Segoe UI"/>
              </a:rPr>
              <a:t>Room size × workstations — 4×3→2, 5×4→3, 6×5→4, 8×6→6; scales with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Die Web-App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The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Flask-Backend + xeokit-3D-Betrachter (WebGL)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Ablauf: Auswählen → Generieren → Vorschau → Export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Export: CSV / GLB / IFC4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Flüchtig: nichts wird gespeichert, bis exportiert wird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Flask backend + xeokit 3D viewer (WebGL)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Flow: pick → Generate → preview → Export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Export: CSV / GLB / IFC4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Ephemeral: nothing is saved until you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Genauigkeitsbewertung — Methode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Accuracy Evaluation —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ABO-Meshes als Ground Truth (wir besitzen sie)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Foto rendern → rekonstruieren → mit Original vergleichen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Metriken: Chamfer-Distanz + F-Score (τ=0,02)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Multi-Seed-ICP-Ausrichtung, deterministisch (seed)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Kalibrierung: Identität F=1,0 · anderes Objekt F=0,18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ABO meshes as ground truth (we own them)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Render photo → reconstruct → compare to original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Metrics: Chamfer distance + F-score (τ=0.02)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Multi-seed ICP alignment, deterministic (seeded)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• Calibration: identity F=1.0 · different object F=0.18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Genauigkeit — Ergebnis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Accuracy — Result</a:t>
            </a:r>
          </a:p>
        </p:txBody>
      </p:sp>
      <p:pic>
        <p:nvPicPr>
          <p:cNvPr id="4" name="Picture 3" descr="fig09_accuracy_tripo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88651"/>
            <a:ext cx="10180015" cy="3555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606060"/>
                </a:solidFill>
                <a:latin typeface="Segoe UI"/>
              </a:rPr>
              <a:t>TripoSR vs. ABO: Präzision ~0,81 ≫ Recall ~0,09 – die Einzelbild-Grenze (Chamfer 0,169, F 0,155)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2F81F7"/>
                </a:solidFill>
                <a:latin typeface="Segoe UI"/>
              </a:rPr>
              <a:t>TripoSR vs ABO: precision ~0.81 ≫ recall ~0.09 — the single-view ceiling (chamfer 0.169, F 0.155)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4-Wege-Vergleich (nächster Schritt)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4-way Bake-off (next)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Gleiche Metrik bewertet alle vier Generatoren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TripoSR · InstantMesh · TRELLIS · SAM 3D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Auf RunPod-GPU (A40), ~$10 gesamt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Ergebnis: Vergleichstabelle Modell × Genauigkeit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Same metric scores all four generators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TripoSR · InstantMesh · TRELLIS · SAM 3D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On a RunPod GPU (A40), ~$10 total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Output: comparison table model ×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Ergebnisse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Funktionierendes Retrieval-+-Layout-System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Einzelbild-Grenze gemessen, nicht nur behauptet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€0 Lizenzgebühren · ~€185/Monat · &lt;€0,02/Raum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Reproduzierbare Abbildungen + IFC/CSV/GLB-Export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Working retrieval-+-layout system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Single-view limit measured, not just asserted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€0 royalties · ~€185/month · &lt;€0.02/room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Reproducible figures + IFC/CSV/GLB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Segoe UI"/>
              </a:rPr>
              <a:t>Ausblick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F81F7"/>
                </a:solidFill>
                <a:latin typeface="Segoe U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Multi-View + Maßstabskalibrierung (über die Grenze hinaus)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Foto→Retrieval direkt in der App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IFC4-Validierung (Eigenschaftssätze)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Desktop-App (PySide, .exe)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81F7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82496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Multi-view + scale calibration (past the ceiling)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Photo→retrieval directly in the app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IFC4 validation (property sets)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A1A1A"/>
                </a:solidFill>
                <a:latin typeface="Segoe UI"/>
              </a:rPr>
              <a:t>• Desktop app (PySide, .exe)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15240" cy="4846320"/>
          </a:xfrm>
          <a:prstGeom prst="rect">
            <a:avLst/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Dimitrius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0606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